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gUYn9R6DscDRTW6+bu6U/LXeZ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75b4d7e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d75b4d7ed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75b4d7e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d75b4d7ed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75b4d7ed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d75b4d7ed6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75b4d7ed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d75b4d7ed6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75b4d7ed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d75b4d7ed6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.bin"/><Relationship Id="rId7" Type="http://schemas.openxmlformats.org/officeDocument/2006/relationships/oleObject" Target="../embeddings/oleObject1.bin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6" name="Google Shape;86;p1"/>
          <p:cNvGraphicFramePr/>
          <p:nvPr/>
        </p:nvGraphicFramePr>
        <p:xfrm>
          <a:off x="10670025" y="1766775"/>
          <a:ext cx="9524676" cy="1881100"/>
        </p:xfrm>
        <a:graphic>
          <a:graphicData uri="http://schemas.openxmlformats.org/presentationml/2006/ole">
            <mc:AlternateContent>
              <mc:Choice Requires="v">
                <p:oleObj r:id="rId6" imgH="1881100" imgW="9524676" progId="Excel.Sheet.12" spid="_x0000_s1">
                  <p:embed/>
                </p:oleObj>
              </mc:Choice>
              <mc:Fallback>
                <p:oleObj r:id="rId7" imgH="1881100" imgW="9524676" progId="Excel.Sheet.12">
                  <p:embed/>
                  <p:pic>
                    <p:nvPicPr>
                      <p:cNvPr id="86" name="Google Shape;86;p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670025" y="1766775"/>
                        <a:ext cx="9524676" cy="18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10125" y="9426325"/>
            <a:ext cx="59553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Enner Mendizabal - 202302220</a:t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904250" y="4266850"/>
            <a:ext cx="13187100" cy="1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5000">
                <a:latin typeface="Open Sans"/>
                <a:ea typeface="Open Sans"/>
                <a:cs typeface="Open Sans"/>
                <a:sym typeface="Open Sans"/>
              </a:rPr>
              <a:t>Teoría de Sistemas 1 - A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27878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3102001" y="2985175"/>
            <a:ext cx="12084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de Diagnóstico</a:t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4000075" y="2756075"/>
            <a:ext cx="9896507" cy="7450585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4"/>
          <p:cNvSpPr/>
          <p:nvPr/>
        </p:nvSpPr>
        <p:spPr>
          <a:xfrm>
            <a:off x="3493371" y="-730682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4"/>
          <p:cNvSpPr/>
          <p:nvPr/>
        </p:nvSpPr>
        <p:spPr>
          <a:xfrm>
            <a:off x="4875920" y="2911456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4"/>
          <p:cNvSpPr txBox="1"/>
          <p:nvPr/>
        </p:nvSpPr>
        <p:spPr>
          <a:xfrm>
            <a:off x="5720910" y="3207489"/>
            <a:ext cx="48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75920" y="3940076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4"/>
          <p:cNvSpPr txBox="1"/>
          <p:nvPr/>
        </p:nvSpPr>
        <p:spPr>
          <a:xfrm>
            <a:off x="5695422" y="4296239"/>
            <a:ext cx="70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824745" y="5018147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4"/>
          <p:cNvSpPr/>
          <p:nvPr/>
        </p:nvSpPr>
        <p:spPr>
          <a:xfrm>
            <a:off x="4824745" y="612084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4"/>
          <p:cNvSpPr/>
          <p:nvPr/>
        </p:nvSpPr>
        <p:spPr>
          <a:xfrm>
            <a:off x="4824745" y="7223523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4"/>
          <p:cNvSpPr txBox="1"/>
          <p:nvPr/>
        </p:nvSpPr>
        <p:spPr>
          <a:xfrm>
            <a:off x="5720893" y="5384964"/>
            <a:ext cx="792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Presentación de los Estudiantes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5682599" y="6418140"/>
            <a:ext cx="592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 Censo de Horarios de Calificación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5720892" y="7451289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Programa del Curso                 					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5307667" y="8424226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4618192" y="9397151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 Tarea de fortalecimiento académico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824745" y="8151948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4"/>
          <p:cNvSpPr/>
          <p:nvPr/>
        </p:nvSpPr>
        <p:spPr>
          <a:xfrm>
            <a:off x="4875920" y="9169398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489650" y="7311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2304050" y="2699700"/>
            <a:ext cx="9652500" cy="6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Datos tutor</a:t>
            </a:r>
            <a:endParaRPr b="1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064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AutoNum type="arabicPeriod"/>
            </a:pPr>
            <a:r>
              <a:rPr b="1" lang="en-US" sz="2800">
                <a:latin typeface="Open Sans"/>
                <a:ea typeface="Open Sans"/>
                <a:cs typeface="Open Sans"/>
                <a:sym typeface="Open Sans"/>
              </a:rPr>
              <a:t>Nombre: </a:t>
            </a:r>
            <a:r>
              <a:rPr lang="en-US" sz="2800">
                <a:latin typeface="Open Sans"/>
                <a:ea typeface="Open Sans"/>
                <a:cs typeface="Open Sans"/>
                <a:sym typeface="Open Sans"/>
              </a:rPr>
              <a:t>Enner Esaí Mendizabal Castro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  <a:p>
            <a:pPr indent="-4064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AutoNum type="arabicPeriod"/>
            </a:pPr>
            <a:r>
              <a:rPr b="1" lang="en-US" sz="2800">
                <a:latin typeface="Open Sans"/>
                <a:ea typeface="Open Sans"/>
                <a:cs typeface="Open Sans"/>
                <a:sym typeface="Open Sans"/>
              </a:rPr>
              <a:t>Formación Académica:</a:t>
            </a:r>
            <a:r>
              <a:rPr lang="en-US" sz="2800">
                <a:latin typeface="Open Sans"/>
                <a:ea typeface="Open Sans"/>
                <a:cs typeface="Open Sans"/>
                <a:sym typeface="Open Sans"/>
              </a:rPr>
              <a:t> Estudiante de último año de Ingeniería en Ciencias y Sistemas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  <a:p>
            <a:pPr indent="-4064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AutoNum type="arabicPeriod"/>
            </a:pPr>
            <a:r>
              <a:rPr b="1" lang="en-US" sz="2800">
                <a:latin typeface="Open Sans"/>
                <a:ea typeface="Open Sans"/>
                <a:cs typeface="Open Sans"/>
                <a:sym typeface="Open Sans"/>
              </a:rPr>
              <a:t>Experiencia: </a:t>
            </a:r>
            <a:r>
              <a:rPr lang="en-US" sz="2800">
                <a:latin typeface="Open Sans"/>
                <a:ea typeface="Open Sans"/>
                <a:cs typeface="Open Sans"/>
                <a:sym typeface="Open Sans"/>
              </a:rPr>
              <a:t>Auxiliar de catedrática en del </a:t>
            </a:r>
            <a:r>
              <a:rPr lang="en-US" sz="2800">
                <a:latin typeface="Open Sans"/>
                <a:ea typeface="Open Sans"/>
                <a:cs typeface="Open Sans"/>
                <a:sym typeface="Open Sans"/>
              </a:rPr>
              <a:t>departamento</a:t>
            </a:r>
            <a:r>
              <a:rPr lang="en-US" sz="2800">
                <a:latin typeface="Open Sans"/>
                <a:ea typeface="Open Sans"/>
                <a:cs typeface="Open Sans"/>
                <a:sym typeface="Open Sans"/>
              </a:rPr>
              <a:t> de Matemática 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  <a:p>
            <a:pPr indent="-4064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AutoNum type="arabicPeriod"/>
            </a:pPr>
            <a:r>
              <a:rPr b="1" lang="en-US" sz="2800">
                <a:latin typeface="Open Sans"/>
                <a:ea typeface="Open Sans"/>
                <a:cs typeface="Open Sans"/>
                <a:sym typeface="Open Sans"/>
              </a:rPr>
              <a:t>Intereses Técnicos:</a:t>
            </a:r>
            <a:r>
              <a:rPr lang="en-US" sz="2800">
                <a:latin typeface="Open Sans"/>
                <a:ea typeface="Open Sans"/>
                <a:cs typeface="Open Sans"/>
                <a:sym typeface="Open Sans"/>
              </a:rPr>
              <a:t> Diseño de arquitectura de sistemas, principalmente cloud.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  <a:p>
            <a:pPr indent="-4064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AutoNum type="arabicPeriod"/>
            </a:pPr>
            <a:r>
              <a:rPr b="1" lang="en-US" sz="2800">
                <a:latin typeface="Open Sans"/>
                <a:ea typeface="Open Sans"/>
                <a:cs typeface="Open Sans"/>
                <a:sym typeface="Open Sans"/>
              </a:rPr>
              <a:t>Contacto: </a:t>
            </a:r>
            <a:r>
              <a:rPr lang="en-US" sz="2800">
                <a:latin typeface="Open Sans"/>
                <a:ea typeface="Open Sans"/>
                <a:cs typeface="Open Sans"/>
                <a:sym typeface="Open Sans"/>
              </a:rPr>
              <a:t>2895884051401@ingenieria.usac.edu.gt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13547400" y="0"/>
            <a:ext cx="47406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13625" lIns="313625" spcFirstLastPara="1" rIns="313625" wrap="square" tIns="313625">
            <a:noAutofit/>
          </a:bodyPr>
          <a:lstStyle/>
          <a:p>
            <a:pPr indent="0" lvl="0" marL="0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r>
              <a:rPr lang="en-US" sz="2160">
                <a:latin typeface="Open Sans"/>
                <a:ea typeface="Open Sans"/>
                <a:cs typeface="Open Sans"/>
                <a:sym typeface="Open Sans"/>
              </a:rPr>
              <a:t>Tiempo estimado ~ 10 minutos</a:t>
            </a:r>
            <a:endParaRPr b="0" i="0" sz="216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/>
        </p:nvSpPr>
        <p:spPr>
          <a:xfrm>
            <a:off x="2042550" y="1118800"/>
            <a:ext cx="14202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i="0" sz="5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13547400" y="0"/>
            <a:ext cx="47406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13625" lIns="313625" spcFirstLastPara="1" rIns="313625" wrap="square" tIns="313625">
            <a:noAutofit/>
          </a:bodyPr>
          <a:lstStyle/>
          <a:p>
            <a:pPr indent="0" lvl="0" marL="0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r>
              <a:rPr lang="en-US" sz="2160">
                <a:latin typeface="Open Sans"/>
                <a:ea typeface="Open Sans"/>
                <a:cs typeface="Open Sans"/>
                <a:sym typeface="Open Sans"/>
              </a:rPr>
              <a:t>Tiempo estimado ~ 15 minutos</a:t>
            </a:r>
            <a:endParaRPr b="0" i="0" sz="216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10485675" y="8368950"/>
            <a:ext cx="68763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0">
                <a:solidFill>
                  <a:schemeClr val="dk1"/>
                </a:solidFill>
              </a:rPr>
              <a:t>https://forms.gle/SfHp21VYREkj7Xzg7</a:t>
            </a:r>
            <a:endParaRPr sz="2300"/>
          </a:p>
        </p:txBody>
      </p:sp>
      <p:pic>
        <p:nvPicPr>
          <p:cNvPr id="130" name="Google Shape;13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67400" y="3068025"/>
            <a:ext cx="5312850" cy="523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/>
          <p:nvPr/>
        </p:nvSpPr>
        <p:spPr>
          <a:xfrm>
            <a:off x="1731825" y="3006150"/>
            <a:ext cx="8936100" cy="5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¿Qué estructura de datos sigue el principio LIFO (Last In, First Out)? 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En un árbol binario de búsqueda, ¿dónde se ubican los valores menores que el nodo raíz?</a:t>
            </a:r>
            <a:endParaRPr sz="2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¿Qué es un grafo dirigido? 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¿Cuál es la complejidad temporal (Notación Big O) típica para buscar un elemento en una tabla hash con pocas colisiones? </a:t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75b4d7ed6_0_12"/>
          <p:cNvSpPr txBox="1"/>
          <p:nvPr/>
        </p:nvSpPr>
        <p:spPr>
          <a:xfrm>
            <a:off x="489650" y="596275"/>
            <a:ext cx="175884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Presentación de los Estudiantes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g3d75b4d7ed6_0_12"/>
          <p:cNvSpPr txBox="1"/>
          <p:nvPr/>
        </p:nvSpPr>
        <p:spPr>
          <a:xfrm>
            <a:off x="1569624" y="2778250"/>
            <a:ext cx="15017700" cy="52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Presentación de 5 estudiantes</a:t>
            </a:r>
            <a:endParaRPr b="1"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b="1" lang="en-US" sz="2800">
                <a:solidFill>
                  <a:schemeClr val="dk1"/>
                </a:solidFill>
              </a:rPr>
              <a:t>Metodología:</a:t>
            </a:r>
            <a:r>
              <a:rPr lang="en-US" sz="2800">
                <a:solidFill>
                  <a:schemeClr val="dk1"/>
                </a:solidFill>
              </a:rPr>
              <a:t> Selección aleatoria de 5 estudiantes mediante "Spinner Wheel" o generador de azar.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b="1" lang="en-US" sz="2800">
                <a:solidFill>
                  <a:schemeClr val="dk1"/>
                </a:solidFill>
              </a:rPr>
              <a:t>Puntos a responder:</a:t>
            </a:r>
            <a:endParaRPr b="1"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</a:rPr>
              <a:t>Nombre completo e interés principal en la carrera.</a:t>
            </a:r>
            <a:endParaRPr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</a:rPr>
              <a:t>Expectativas sobre el curso de Teoría de Sistemas 1.</a:t>
            </a:r>
            <a:endParaRPr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</a:rPr>
              <a:t>Experiencia previa con diagramación o análisis de procesos.</a:t>
            </a:r>
            <a:endParaRPr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</a:rPr>
              <a:t>Dato curioso no académico.</a:t>
            </a:r>
            <a:endParaRPr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</a:rPr>
              <a:t>Nivel de comodidad con la evaluación de conocimientos previos.</a:t>
            </a:r>
            <a:endParaRPr b="1" sz="2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g3d75b4d7ed6_0_12"/>
          <p:cNvSpPr txBox="1"/>
          <p:nvPr/>
        </p:nvSpPr>
        <p:spPr>
          <a:xfrm>
            <a:off x="13547400" y="0"/>
            <a:ext cx="47406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13625" lIns="313625" spcFirstLastPara="1" rIns="313625" wrap="square" tIns="313625">
            <a:noAutofit/>
          </a:bodyPr>
          <a:lstStyle/>
          <a:p>
            <a:pPr indent="0" lvl="0" marL="0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r>
              <a:rPr lang="en-US" sz="2160">
                <a:latin typeface="Open Sans"/>
                <a:ea typeface="Open Sans"/>
                <a:cs typeface="Open Sans"/>
                <a:sym typeface="Open Sans"/>
              </a:rPr>
              <a:t>Tiempo estimado ~ 25 minutos</a:t>
            </a:r>
            <a:endParaRPr b="0" i="0" sz="216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75b4d7ed6_0_21"/>
          <p:cNvSpPr txBox="1"/>
          <p:nvPr/>
        </p:nvSpPr>
        <p:spPr>
          <a:xfrm>
            <a:off x="489650" y="596275"/>
            <a:ext cx="16070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 </a:t>
            </a:r>
            <a:r>
              <a:rPr b="1" lang="en-US" sz="5600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enso de Horarios de Calificación                         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g3d75b4d7ed6_0_21"/>
          <p:cNvSpPr txBox="1"/>
          <p:nvPr/>
        </p:nvSpPr>
        <p:spPr>
          <a:xfrm>
            <a:off x="1407025" y="2522700"/>
            <a:ext cx="15287700" cy="56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Horarios tentativos de calificación.</a:t>
            </a:r>
            <a:br>
              <a:rPr b="1" i="0" lang="en-U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b="1" i="0" lang="en-U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2800">
                <a:solidFill>
                  <a:srgbClr val="000000"/>
                </a:solidFill>
              </a:rPr>
              <a:t>Objetivo:</a:t>
            </a:r>
            <a:r>
              <a:rPr lang="en-US" sz="2800">
                <a:solidFill>
                  <a:srgbClr val="000000"/>
                </a:solidFill>
              </a:rPr>
              <a:t> Establecer franjas horarias que garanticen la atención a la mayoría de los estudiantes para la revisión de sus entregas.</a:t>
            </a:r>
            <a:endParaRPr sz="28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</a:rPr>
              <a:t>Propuesta de Horarios:</a:t>
            </a:r>
            <a:endParaRPr b="1" sz="2800"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●"/>
            </a:pPr>
            <a:r>
              <a:rPr lang="en-US" sz="2800">
                <a:solidFill>
                  <a:srgbClr val="000000"/>
                </a:solidFill>
              </a:rPr>
              <a:t>Sábados: 10:00 AM – 12:00 PM.</a:t>
            </a:r>
            <a:endParaRPr sz="2800"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●"/>
            </a:pPr>
            <a:r>
              <a:rPr lang="en-US" sz="2800">
                <a:solidFill>
                  <a:srgbClr val="000000"/>
                </a:solidFill>
              </a:rPr>
              <a:t>Sábados: 2:00 PM – 4:00 PM.</a:t>
            </a:r>
            <a:endParaRPr sz="2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</a:rPr>
              <a:t>Instrucciones:</a:t>
            </a:r>
            <a:r>
              <a:rPr lang="en-US" sz="2800">
                <a:solidFill>
                  <a:srgbClr val="000000"/>
                </a:solidFill>
              </a:rPr>
              <a:t> Responder el formulario de Google Forms (enlace fijado en el chat) para validar la disponibilidad.</a:t>
            </a:r>
            <a:endParaRPr sz="2800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75b4d7ed6_0_30"/>
          <p:cNvSpPr txBox="1"/>
          <p:nvPr/>
        </p:nvSpPr>
        <p:spPr>
          <a:xfrm>
            <a:off x="489650" y="5962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Programa del Curso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g3d75b4d7ed6_0_30"/>
          <p:cNvSpPr/>
          <p:nvPr/>
        </p:nvSpPr>
        <p:spPr>
          <a:xfrm>
            <a:off x="836622" y="2716427"/>
            <a:ext cx="16376814" cy="5632634"/>
          </a:xfrm>
          <a:custGeom>
            <a:rect b="b" l="l" r="r" t="t"/>
            <a:pathLst>
              <a:path extrusionOk="0" h="4180062" w="4013925">
                <a:moveTo>
                  <a:pt x="0" y="0"/>
                </a:moveTo>
                <a:lnTo>
                  <a:pt x="4013925" y="0"/>
                </a:lnTo>
                <a:lnTo>
                  <a:pt x="4013925" y="4180062"/>
                </a:lnTo>
                <a:lnTo>
                  <a:pt x="0" y="4180062"/>
                </a:lnTo>
                <a:close/>
              </a:path>
            </a:pathLst>
          </a:custGeom>
          <a:solidFill>
            <a:srgbClr val="FF5757"/>
          </a:solidFill>
          <a:ln>
            <a:noFill/>
          </a:ln>
        </p:spPr>
      </p:sp>
      <p:sp>
        <p:nvSpPr>
          <p:cNvPr id="151" name="Google Shape;151;g3d75b4d7ed6_0_30"/>
          <p:cNvSpPr/>
          <p:nvPr/>
        </p:nvSpPr>
        <p:spPr>
          <a:xfrm>
            <a:off x="11806801" y="2716413"/>
            <a:ext cx="5408764" cy="5769540"/>
          </a:xfrm>
          <a:custGeom>
            <a:rect b="b" l="l" r="r" t="t"/>
            <a:pathLst>
              <a:path extrusionOk="0" h="4281662" w="4013925">
                <a:moveTo>
                  <a:pt x="0" y="4180062"/>
                </a:moveTo>
                <a:lnTo>
                  <a:pt x="4013925" y="4180062"/>
                </a:lnTo>
                <a:lnTo>
                  <a:pt x="3886925" y="4281662"/>
                </a:lnTo>
                <a:cubicBezTo>
                  <a:pt x="3886925" y="4281662"/>
                  <a:pt x="2896325" y="4205462"/>
                  <a:pt x="2794725" y="4205462"/>
                </a:cubicBezTo>
                <a:lnTo>
                  <a:pt x="1219200" y="4205462"/>
                </a:lnTo>
                <a:cubicBezTo>
                  <a:pt x="1117600" y="4205462"/>
                  <a:pt x="127000" y="4281662"/>
                  <a:pt x="127000" y="4281662"/>
                </a:cubicBezTo>
                <a:lnTo>
                  <a:pt x="0" y="4180062"/>
                </a:lnTo>
                <a:lnTo>
                  <a:pt x="0" y="0"/>
                </a:lnTo>
                <a:lnTo>
                  <a:pt x="4013925" y="0"/>
                </a:lnTo>
                <a:lnTo>
                  <a:pt x="4013925" y="4180062"/>
                </a:lnTo>
                <a:lnTo>
                  <a:pt x="12700" y="4180062"/>
                </a:lnTo>
                <a:lnTo>
                  <a:pt x="12700" y="4167362"/>
                </a:lnTo>
                <a:lnTo>
                  <a:pt x="4001225" y="4167362"/>
                </a:lnTo>
                <a:lnTo>
                  <a:pt x="4001225" y="12700"/>
                </a:lnTo>
                <a:lnTo>
                  <a:pt x="12700" y="12700"/>
                </a:lnTo>
                <a:lnTo>
                  <a:pt x="12700" y="4180062"/>
                </a:lnTo>
              </a:path>
            </a:pathLst>
          </a:custGeom>
          <a:solidFill>
            <a:srgbClr val="394C60">
              <a:alpha val="784"/>
            </a:srgbClr>
          </a:solidFill>
          <a:ln>
            <a:noFill/>
          </a:ln>
        </p:spPr>
        <p:txBody>
          <a:bodyPr anchorCtr="0" anchor="ctr" bIns="106400" lIns="106400" spcFirstLastPara="1" rIns="106400" wrap="square" tIns="106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None/>
            </a:pPr>
            <a:r>
              <a:t/>
            </a:r>
            <a:endParaRPr b="0" i="0" sz="16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d75b4d7ed6_0_30"/>
          <p:cNvSpPr txBox="1"/>
          <p:nvPr/>
        </p:nvSpPr>
        <p:spPr>
          <a:xfrm>
            <a:off x="837600" y="2716425"/>
            <a:ext cx="16376700" cy="55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000" lIns="365000" spcFirstLastPara="1" rIns="365000" wrap="square" tIns="365000">
            <a:noAutofit/>
          </a:bodyPr>
          <a:lstStyle/>
          <a:p>
            <a:pPr indent="0" lvl="0" marL="0" rtl="0" algn="ctr">
              <a:lnSpc>
                <a:spcPct val="1679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Arial"/>
              <a:buNone/>
            </a:pPr>
            <a:r>
              <a:rPr b="1" lang="en-US" sz="3026">
                <a:solidFill>
                  <a:schemeClr val="lt1"/>
                </a:solidFill>
              </a:rPr>
              <a:t>Unidades Principales:</a:t>
            </a:r>
            <a:endParaRPr b="1" sz="3026">
              <a:solidFill>
                <a:schemeClr val="lt1"/>
              </a:solidFill>
            </a:endParaRPr>
          </a:p>
          <a:p>
            <a:pPr indent="-458181" lvl="0" marL="53208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26"/>
              <a:buAutoNum type="arabicPeriod"/>
            </a:pPr>
            <a:r>
              <a:rPr lang="en-US" sz="3026">
                <a:solidFill>
                  <a:schemeClr val="dk1"/>
                </a:solidFill>
              </a:rPr>
              <a:t>Fundamentos del Pensamiento Sistémico.</a:t>
            </a:r>
            <a:endParaRPr sz="3026">
              <a:solidFill>
                <a:schemeClr val="dk1"/>
              </a:solidFill>
            </a:endParaRPr>
          </a:p>
          <a:p>
            <a:pPr indent="-458181" lvl="0" marL="53208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26"/>
              <a:buAutoNum type="arabicPeriod"/>
            </a:pPr>
            <a:r>
              <a:rPr lang="en-US" sz="3026">
                <a:solidFill>
                  <a:schemeClr val="dk1"/>
                </a:solidFill>
              </a:rPr>
              <a:t>Modelado con Diagramas de Ciclos Causales (DCC).</a:t>
            </a:r>
            <a:endParaRPr sz="3026">
              <a:solidFill>
                <a:schemeClr val="dk1"/>
              </a:solidFill>
            </a:endParaRPr>
          </a:p>
          <a:p>
            <a:pPr indent="-458181" lvl="0" marL="53208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26"/>
              <a:buAutoNum type="arabicPeriod"/>
            </a:pPr>
            <a:r>
              <a:rPr lang="en-US" sz="3026">
                <a:solidFill>
                  <a:schemeClr val="dk1"/>
                </a:solidFill>
              </a:rPr>
              <a:t>Dinámica de Sistemas y Arquetipos.</a:t>
            </a:r>
            <a:endParaRPr sz="3026">
              <a:solidFill>
                <a:schemeClr val="dk1"/>
              </a:solidFill>
            </a:endParaRPr>
          </a:p>
          <a:p>
            <a:pPr indent="-458181" lvl="0" marL="53208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26"/>
              <a:buAutoNum type="arabicPeriod"/>
            </a:pPr>
            <a:r>
              <a:rPr lang="en-US" sz="3026">
                <a:solidFill>
                  <a:schemeClr val="dk1"/>
                </a:solidFill>
              </a:rPr>
              <a:t>Uso de software de simulación (VENSIM).</a:t>
            </a:r>
            <a:endParaRPr sz="3026">
              <a:solidFill>
                <a:schemeClr val="dk1"/>
              </a:solidFill>
            </a:endParaRPr>
          </a:p>
          <a:p>
            <a:pPr indent="-458181" lvl="0" marL="53208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26"/>
              <a:buAutoNum type="arabicPeriod"/>
            </a:pPr>
            <a:r>
              <a:rPr lang="en-US" sz="3026">
                <a:solidFill>
                  <a:schemeClr val="dk1"/>
                </a:solidFill>
              </a:rPr>
              <a:t>Análisis estratégico y Toma de Decisiones.</a:t>
            </a:r>
            <a:endParaRPr sz="3026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26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Arial"/>
              <a:buNone/>
            </a:pPr>
            <a:r>
              <a:rPr b="1" lang="en-US" sz="3026">
                <a:solidFill>
                  <a:schemeClr val="lt1"/>
                </a:solidFill>
              </a:rPr>
              <a:t>Hito Clave:</a:t>
            </a:r>
            <a:r>
              <a:rPr lang="en-US" sz="3026">
                <a:solidFill>
                  <a:schemeClr val="lt1"/>
                </a:solidFill>
              </a:rPr>
              <a:t> </a:t>
            </a:r>
            <a:r>
              <a:rPr lang="en-US" sz="3026">
                <a:solidFill>
                  <a:schemeClr val="dk1"/>
                </a:solidFill>
              </a:rPr>
              <a:t>Primer Proyecto "De la Ceguera al Análisis" (Modelo del Iceberg y DSRP)</a:t>
            </a:r>
            <a:endParaRPr sz="3026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Arial"/>
              <a:buNone/>
            </a:pPr>
            <a:r>
              <a:t/>
            </a:r>
            <a:endParaRPr sz="128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14"/>
              <a:buFont typeface="Arial"/>
              <a:buNone/>
            </a:pPr>
            <a:r>
              <a:t/>
            </a:r>
            <a:endParaRPr sz="2514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14"/>
              <a:buFont typeface="Arial"/>
              <a:buNone/>
            </a:pPr>
            <a:r>
              <a:t/>
            </a:r>
            <a:endParaRPr b="0" i="0" sz="251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g3d75b4d7ed6_0_30"/>
          <p:cNvSpPr txBox="1"/>
          <p:nvPr/>
        </p:nvSpPr>
        <p:spPr>
          <a:xfrm>
            <a:off x="13547400" y="0"/>
            <a:ext cx="47406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13625" lIns="313625" spcFirstLastPara="1" rIns="313625" wrap="square" tIns="313625">
            <a:noAutofit/>
          </a:bodyPr>
          <a:lstStyle/>
          <a:p>
            <a:pPr indent="0" lvl="0" marL="0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r>
              <a:rPr lang="en-US" sz="2160">
                <a:latin typeface="Open Sans"/>
                <a:ea typeface="Open Sans"/>
                <a:cs typeface="Open Sans"/>
                <a:sym typeface="Open Sans"/>
              </a:rPr>
              <a:t>Tiempo estimado ~ 20 minutos</a:t>
            </a:r>
            <a:endParaRPr b="0" i="0" sz="216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75b4d7ed6_0_39"/>
          <p:cNvSpPr txBox="1"/>
          <p:nvPr/>
        </p:nvSpPr>
        <p:spPr>
          <a:xfrm>
            <a:off x="3410550" y="969200"/>
            <a:ext cx="114669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5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b="1" i="0" sz="5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g3d75b4d7ed6_0_39"/>
          <p:cNvSpPr txBox="1"/>
          <p:nvPr/>
        </p:nvSpPr>
        <p:spPr>
          <a:xfrm>
            <a:off x="1662550" y="3429000"/>
            <a:ext cx="15135900" cy="58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En el contexto de Teoría de Sistemas, ¿qué concepto indica que "el todo es mayor que la suma de sus partes"?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¿Qué busca analizar el "Modelo del Iceberg" en el pensamiento sistémico?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En un Diagrama de Ciclos Causales (DCC), ¿qué tipo de ciclo amplifica un comportamiento, llevando a un crecimiento o declive acelerado (ej. crecimiento poblacional)?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¿Qué es un "Arquetipo Sistémico" en la dinámica de sistemas?</a:t>
            </a:r>
            <a:r>
              <a:rPr lang="en-US" sz="2800">
                <a:solidFill>
                  <a:schemeClr val="dk1"/>
                </a:solidFill>
              </a:rPr>
              <a:t>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En herramientas de simulación como Vensim, ¿cuáles son los dos elementos gráficos fundamentales utilizados para representar cómo se acumulan los recursos y cómo cambian con el tiempo?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0" name="Google Shape;160;g3d75b4d7ed6_0_39"/>
          <p:cNvSpPr txBox="1"/>
          <p:nvPr/>
        </p:nvSpPr>
        <p:spPr>
          <a:xfrm>
            <a:off x="13547400" y="0"/>
            <a:ext cx="47406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13625" lIns="313625" spcFirstLastPara="1" rIns="313625" wrap="square" tIns="313625">
            <a:noAutofit/>
          </a:bodyPr>
          <a:lstStyle/>
          <a:p>
            <a:pPr indent="0" lvl="0" marL="0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r>
              <a:rPr lang="en-US" sz="2160">
                <a:latin typeface="Open Sans"/>
                <a:ea typeface="Open Sans"/>
                <a:cs typeface="Open Sans"/>
                <a:sym typeface="Open Sans"/>
              </a:rPr>
              <a:t>Tiempo estimado ~ 15 minutos</a:t>
            </a:r>
            <a:endParaRPr b="0" i="0" sz="216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75b4d7ed6_1_10"/>
          <p:cNvSpPr txBox="1"/>
          <p:nvPr/>
        </p:nvSpPr>
        <p:spPr>
          <a:xfrm>
            <a:off x="489650" y="596275"/>
            <a:ext cx="182880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 Tarea de fortalecimiento académico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66" name="Google Shape;166;g3d75b4d7ed6_1_10"/>
          <p:cNvGrpSpPr/>
          <p:nvPr/>
        </p:nvGrpSpPr>
        <p:grpSpPr>
          <a:xfrm>
            <a:off x="277100" y="1835726"/>
            <a:ext cx="17612629" cy="8451181"/>
            <a:chOff x="0" y="-38099"/>
            <a:chExt cx="4014000" cy="4319761"/>
          </a:xfrm>
        </p:grpSpPr>
        <p:sp>
          <p:nvSpPr>
            <p:cNvPr id="167" name="Google Shape;167;g3d75b4d7ed6_1_10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168" name="Google Shape;168;g3d75b4d7ed6_1_10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4"/>
              </a:srgbClr>
            </a:solidFill>
            <a:ln>
              <a:noFill/>
            </a:ln>
          </p:spPr>
          <p:txBody>
            <a:bodyPr anchorCtr="0" anchor="ctr" bIns="134500" lIns="134500" spcFirstLastPara="1" rIns="134500" wrap="square" tIns="134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60"/>
                <a:buFont typeface="Arial"/>
                <a:buNone/>
              </a:pPr>
              <a:r>
                <a:t/>
              </a:r>
              <a:endParaRPr b="0" i="0" sz="2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3d75b4d7ed6_1_10"/>
            <p:cNvSpPr txBox="1"/>
            <p:nvPr/>
          </p:nvSpPr>
          <p:spPr>
            <a:xfrm>
              <a:off x="0" y="-38099"/>
              <a:ext cx="4014000" cy="43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1375" lIns="461375" spcFirstLastPara="1" rIns="461375" wrap="square" tIns="46137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78"/>
                <a:buFont typeface="Arial"/>
                <a:buNone/>
              </a:pPr>
              <a:r>
                <a:rPr b="1" lang="en-US" sz="28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Investigar: </a:t>
              </a:r>
              <a:r>
                <a:rPr lang="en-US" sz="2800">
                  <a:latin typeface="Open Sans"/>
                  <a:ea typeface="Open Sans"/>
                  <a:cs typeface="Open Sans"/>
                  <a:sym typeface="Open Sans"/>
                </a:rPr>
                <a:t>Lee sobre los conceptos fundamentales de "Pensamiento Sistémico vs. Pensamiento Lineal" y la estructura del "Modelo del Iceberg".</a:t>
              </a:r>
              <a:endParaRPr sz="2800"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78"/>
                <a:buFont typeface="Arial"/>
                <a:buNone/>
              </a:pPr>
              <a:r>
                <a:rPr b="1" lang="en-US" sz="28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Seleccionar un problema:</a:t>
              </a:r>
              <a:r>
                <a:rPr lang="en-US" sz="2800">
                  <a:latin typeface="Open Sans"/>
                  <a:ea typeface="Open Sans"/>
                  <a:cs typeface="Open Sans"/>
                  <a:sym typeface="Open Sans"/>
                </a:rPr>
                <a:t> Elige un problema actual de tu entorno (por ejemplo: el tráfico en la Ciudad de Guatemala, la deserción estudiantil en la FIUSAC, etc.).</a:t>
              </a:r>
              <a:endParaRPr sz="2800"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78"/>
                <a:buFont typeface="Arial"/>
                <a:buNone/>
              </a:pPr>
              <a:r>
                <a:rPr lang="en-US" sz="2800">
                  <a:latin typeface="Open Sans"/>
                  <a:ea typeface="Open Sans"/>
                  <a:cs typeface="Open Sans"/>
                  <a:sym typeface="Open Sans"/>
                </a:rPr>
                <a:t>Aplicar el modelo: Desarrolla el Modelo del Iceberg para el problema elegido.</a:t>
              </a:r>
              <a:endParaRPr sz="2800"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78"/>
                <a:buFont typeface="Arial"/>
                <a:buNone/>
              </a:pPr>
              <a:r>
                <a:rPr b="1" lang="en-US" sz="2800">
                  <a:latin typeface="Open Sans"/>
                  <a:ea typeface="Open Sans"/>
                  <a:cs typeface="Open Sans"/>
                  <a:sym typeface="Open Sans"/>
                </a:rPr>
                <a:t>Evento:</a:t>
              </a:r>
              <a:r>
                <a:rPr lang="en-US" sz="2800">
                  <a:latin typeface="Open Sans"/>
                  <a:ea typeface="Open Sans"/>
                  <a:cs typeface="Open Sans"/>
                  <a:sym typeface="Open Sans"/>
                </a:rPr>
                <a:t> ¿Qué pasó hoy o recientemente?</a:t>
              </a:r>
              <a:endParaRPr sz="2800"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78"/>
                <a:buFont typeface="Arial"/>
                <a:buNone/>
              </a:pPr>
              <a:r>
                <a:rPr b="1" lang="en-US" sz="2800">
                  <a:latin typeface="Open Sans"/>
                  <a:ea typeface="Open Sans"/>
                  <a:cs typeface="Open Sans"/>
                  <a:sym typeface="Open Sans"/>
                </a:rPr>
                <a:t>Patrón:</a:t>
              </a:r>
              <a:r>
                <a:rPr lang="en-US" sz="2800">
                  <a:latin typeface="Open Sans"/>
                  <a:ea typeface="Open Sans"/>
                  <a:cs typeface="Open Sans"/>
                  <a:sym typeface="Open Sans"/>
                </a:rPr>
                <a:t> ¿Cuál ha sido la tendencia en los últimos años?</a:t>
              </a:r>
              <a:endParaRPr sz="2800"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78"/>
                <a:buFont typeface="Arial"/>
                <a:buNone/>
              </a:pPr>
              <a:r>
                <a:rPr b="1" lang="en-US" sz="2800">
                  <a:latin typeface="Open Sans"/>
                  <a:ea typeface="Open Sans"/>
                  <a:cs typeface="Open Sans"/>
                  <a:sym typeface="Open Sans"/>
                </a:rPr>
                <a:t>Estructura Sistémica: </a:t>
              </a:r>
              <a:r>
                <a:rPr lang="en-US" sz="2800">
                  <a:latin typeface="Open Sans"/>
                  <a:ea typeface="Open Sans"/>
                  <a:cs typeface="Open Sans"/>
                  <a:sym typeface="Open Sans"/>
                </a:rPr>
                <a:t>¿Qué reglas, políticas, infraestructura o falta de ellas causan este patrón?</a:t>
              </a:r>
              <a:endParaRPr sz="2800"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78"/>
                <a:buFont typeface="Arial"/>
                <a:buNone/>
              </a:pPr>
              <a:r>
                <a:rPr b="1" lang="en-US" sz="2800">
                  <a:latin typeface="Open Sans"/>
                  <a:ea typeface="Open Sans"/>
                  <a:cs typeface="Open Sans"/>
                  <a:sym typeface="Open Sans"/>
                </a:rPr>
                <a:t>Modelos Mentales: </a:t>
              </a:r>
              <a:r>
                <a:rPr lang="en-US" sz="2800">
                  <a:latin typeface="Open Sans"/>
                  <a:ea typeface="Open Sans"/>
                  <a:cs typeface="Open Sans"/>
                  <a:sym typeface="Open Sans"/>
                </a:rPr>
                <a:t>¿Qué creencias o valores de las personas mantienen viva esta estructura?</a:t>
              </a:r>
              <a:endParaRPr sz="2800"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78"/>
                <a:buFont typeface="Arial"/>
                <a:buNone/>
              </a:pPr>
              <a:r>
                <a:rPr b="1" lang="en-US" sz="2800">
                  <a:latin typeface="Open Sans"/>
                  <a:ea typeface="Open Sans"/>
                  <a:cs typeface="Open Sans"/>
                  <a:sym typeface="Open Sans"/>
                </a:rPr>
                <a:t>Reflexión:</a:t>
              </a:r>
              <a:r>
                <a:rPr lang="en-US" sz="2800">
                  <a:latin typeface="Open Sans"/>
                  <a:ea typeface="Open Sans"/>
                  <a:cs typeface="Open Sans"/>
                  <a:sym typeface="Open Sans"/>
                </a:rPr>
                <a:t> Escribe un párrafo (máximo 10 líneas) explicando por qué atacar el "Evento" (pensamiento lineal) no soluciona el problema a largo plazo.</a:t>
              </a:r>
              <a:endParaRPr sz="2800"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78"/>
                <a:buFont typeface="Arial"/>
                <a:buNone/>
              </a:pPr>
              <a:r>
                <a:rPr b="1" lang="en-US" sz="28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Entregable: </a:t>
              </a:r>
              <a:r>
                <a:rPr lang="en-US" sz="2800">
                  <a:latin typeface="Open Sans"/>
                  <a:ea typeface="Open Sans"/>
                  <a:cs typeface="Open Sans"/>
                  <a:sym typeface="Open Sans"/>
                </a:rPr>
                <a:t>Un documento PDF con carátula, la investigación teórica breve, el análisis del Modelo del Iceberg y la reflexión final.</a:t>
              </a:r>
              <a:endParaRPr b="0" i="0" sz="3178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70" name="Google Shape;170;g3d75b4d7ed6_1_10"/>
          <p:cNvSpPr txBox="1"/>
          <p:nvPr/>
        </p:nvSpPr>
        <p:spPr>
          <a:xfrm>
            <a:off x="13547400" y="0"/>
            <a:ext cx="47406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13625" lIns="313625" spcFirstLastPara="1" rIns="313625" wrap="square" tIns="313625">
            <a:noAutofit/>
          </a:bodyPr>
          <a:lstStyle/>
          <a:p>
            <a:pPr indent="0" lvl="0" marL="0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r>
              <a:rPr lang="en-US" sz="2160">
                <a:latin typeface="Open Sans"/>
                <a:ea typeface="Open Sans"/>
                <a:cs typeface="Open Sans"/>
                <a:sym typeface="Open Sans"/>
              </a:rPr>
              <a:t>Tiempo estimado ~ 5 minutos</a:t>
            </a:r>
            <a:endParaRPr b="0" i="0" sz="216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/>
          <p:nvPr/>
        </p:nvSpPr>
        <p:spPr>
          <a:xfrm>
            <a:off x="915620" y="11805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