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oleObject" PartName="/ppt/embeddings/oleObject1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0287000" cx="18288000"/>
  <p:notesSz cx="6858000" cy="9144000"/>
  <p:embeddedFontLs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hZhnlM0v23+6UrR+hpYlFYIgtU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75b4d7ed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d75b4d7ed6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75b4d7ed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g3d75b4d7ed6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75b4d7ed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2" name="Google Shape;142;g3d75b4d7ed6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75b4d7ed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d75b4d7ed6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75b4d7ed6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d75b4d7ed6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vmlDrawing" Target="../drawings/vmlDrawing1.vml"/><Relationship Id="rId4" Type="http://schemas.openxmlformats.org/officeDocument/2006/relationships/image" Target="../media/image8.png"/><Relationship Id="rId5" Type="http://schemas.openxmlformats.org/officeDocument/2006/relationships/oleObject" Target="../embeddings/oleObject1.bin"/><Relationship Id="rId6" Type="http://schemas.openxmlformats.org/officeDocument/2006/relationships/oleObject" Target="../embeddings/oleObject1.bin"/><Relationship Id="rId7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0670025" y="1766775"/>
          <a:ext cx="9524676" cy="1881100"/>
        </p:xfrm>
        <a:graphic>
          <a:graphicData uri="http://schemas.openxmlformats.org/presentationml/2006/ole">
            <mc:AlternateContent>
              <mc:Choice Requires="v">
                <p:oleObj r:id="rId5" imgH="1881100" imgW="9524676" progId="Excel.Sheet.12" spid="_x0000_s1">
                  <p:embed/>
                </p:oleObj>
              </mc:Choice>
              <mc:Fallback>
                <p:oleObj r:id="rId6" imgH="1881100" imgW="9524676" progId="Excel.Sheet.12">
                  <p:embed/>
                  <p:pic>
                    <p:nvPicPr>
                      <p:cNvPr id="85" name="Google Shape;85;p1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0670025" y="1766775"/>
                        <a:ext cx="9524676" cy="1881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5792614" y="629113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48639" y="9201150"/>
            <a:ext cx="40671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Marco Solares</a:t>
            </a:r>
            <a:endParaRPr b="1" sz="314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639961" y="4241550"/>
            <a:ext cx="13187100" cy="14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300">
                <a:latin typeface="Open Sans"/>
                <a:ea typeface="Open Sans"/>
                <a:cs typeface="Open Sans"/>
                <a:sym typeface="Open Sans"/>
              </a:rPr>
              <a:t>Teoría de Sistemas 1 - A</a:t>
            </a:r>
            <a:endParaRPr b="0" i="0" sz="4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799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3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13277525" y="2422625"/>
            <a:ext cx="3293400" cy="569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09/07/2026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27878"/>
            <a:ext cx="18288000" cy="10401300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 txBox="1"/>
          <p:nvPr/>
        </p:nvSpPr>
        <p:spPr>
          <a:xfrm>
            <a:off x="3102001" y="2985175"/>
            <a:ext cx="12084000" cy="3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de Diagnóstico</a:t>
            </a:r>
            <a:endParaRPr b="1" i="0" sz="879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/>
          <p:nvPr/>
        </p:nvSpPr>
        <p:spPr>
          <a:xfrm>
            <a:off x="4000075" y="2756063"/>
            <a:ext cx="9896507" cy="7627980"/>
          </a:xfrm>
          <a:custGeom>
            <a:rect b="b" l="l" r="r" t="t"/>
            <a:pathLst>
              <a:path extrusionOk="0" h="5913163" w="9896507">
                <a:moveTo>
                  <a:pt x="0" y="0"/>
                </a:moveTo>
                <a:lnTo>
                  <a:pt x="9896507" y="0"/>
                </a:lnTo>
                <a:lnTo>
                  <a:pt x="9896507" y="5913163"/>
                </a:lnTo>
                <a:lnTo>
                  <a:pt x="0" y="59131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p4"/>
          <p:cNvSpPr/>
          <p:nvPr/>
        </p:nvSpPr>
        <p:spPr>
          <a:xfrm>
            <a:off x="3493371" y="-730682"/>
            <a:ext cx="11301259" cy="5127946"/>
          </a:xfrm>
          <a:custGeom>
            <a:rect b="b" l="l" r="r" t="t"/>
            <a:pathLst>
              <a:path extrusionOk="0" h="5127946" w="11301259">
                <a:moveTo>
                  <a:pt x="0" y="0"/>
                </a:moveTo>
                <a:lnTo>
                  <a:pt x="11301258" y="0"/>
                </a:lnTo>
                <a:lnTo>
                  <a:pt x="11301258" y="5127946"/>
                </a:lnTo>
                <a:lnTo>
                  <a:pt x="0" y="51279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4"/>
          <p:cNvSpPr/>
          <p:nvPr/>
        </p:nvSpPr>
        <p:spPr>
          <a:xfrm>
            <a:off x="4875920" y="320423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4"/>
          <p:cNvSpPr txBox="1"/>
          <p:nvPr/>
        </p:nvSpPr>
        <p:spPr>
          <a:xfrm>
            <a:off x="5720910" y="3500263"/>
            <a:ext cx="488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875920" y="4232850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4"/>
          <p:cNvSpPr txBox="1"/>
          <p:nvPr/>
        </p:nvSpPr>
        <p:spPr>
          <a:xfrm>
            <a:off x="5695422" y="4589013"/>
            <a:ext cx="706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2. Evaluación de Conocimientos Previos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824745" y="5310921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4"/>
          <p:cNvSpPr/>
          <p:nvPr/>
        </p:nvSpPr>
        <p:spPr>
          <a:xfrm>
            <a:off x="4824745" y="6413615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19"/>
                </a:lnTo>
                <a:lnTo>
                  <a:pt x="0" y="8248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4"/>
          <p:cNvSpPr/>
          <p:nvPr/>
        </p:nvSpPr>
        <p:spPr>
          <a:xfrm>
            <a:off x="4824745" y="7516297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4"/>
          <p:cNvSpPr txBox="1"/>
          <p:nvPr/>
        </p:nvSpPr>
        <p:spPr>
          <a:xfrm>
            <a:off x="5720893" y="5677738"/>
            <a:ext cx="792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Presentación de los Estudiantes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0" name="Google Shape;110;p4"/>
          <p:cNvSpPr txBox="1"/>
          <p:nvPr/>
        </p:nvSpPr>
        <p:spPr>
          <a:xfrm>
            <a:off x="5682599" y="6710914"/>
            <a:ext cx="592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 Senso de Horarios de Calificación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5720892" y="7744063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 Programa del Curso                 					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5307667" y="8717000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6. Evaluación de Conocimientos del Curso Actual  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4"/>
          <p:cNvSpPr txBox="1"/>
          <p:nvPr/>
        </p:nvSpPr>
        <p:spPr>
          <a:xfrm>
            <a:off x="4618192" y="9689925"/>
            <a:ext cx="805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7. Tarea de fortalecimiento académico                                 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824745" y="844472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4"/>
          <p:cNvSpPr/>
          <p:nvPr/>
        </p:nvSpPr>
        <p:spPr>
          <a:xfrm>
            <a:off x="4875920" y="9462172"/>
            <a:ext cx="678185" cy="824819"/>
          </a:xfrm>
          <a:custGeom>
            <a:rect b="b" l="l" r="r" t="t"/>
            <a:pathLst>
              <a:path extrusionOk="0" h="824819" w="678185">
                <a:moveTo>
                  <a:pt x="0" y="0"/>
                </a:moveTo>
                <a:lnTo>
                  <a:pt x="678184" y="0"/>
                </a:lnTo>
                <a:lnTo>
                  <a:pt x="678184" y="824820"/>
                </a:lnTo>
                <a:lnTo>
                  <a:pt x="0" y="8248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/>
        </p:nvSpPr>
        <p:spPr>
          <a:xfrm>
            <a:off x="489650" y="731175"/>
            <a:ext cx="114669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1. Presentación del tutor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1407028" y="2665075"/>
            <a:ext cx="12134700" cy="71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9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Datos tutor</a:t>
            </a:r>
            <a:endParaRPr b="1" i="0" sz="2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572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AutoNum type="arabicPeriod"/>
            </a:pPr>
            <a:r>
              <a:rPr b="1" lang="en-US" sz="2300">
                <a:solidFill>
                  <a:schemeClr val="dk1"/>
                </a:solidFill>
              </a:rPr>
              <a:t>Nombre:</a:t>
            </a:r>
            <a:r>
              <a:rPr lang="en-US" sz="2300">
                <a:solidFill>
                  <a:schemeClr val="dk1"/>
                </a:solidFill>
              </a:rPr>
              <a:t> Marco Solares.</a:t>
            </a:r>
            <a:endParaRPr sz="23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AutoNum type="arabicPeriod"/>
            </a:pPr>
            <a:r>
              <a:rPr b="1" lang="en-US" sz="2300">
                <a:solidFill>
                  <a:schemeClr val="dk1"/>
                </a:solidFill>
              </a:rPr>
              <a:t>Formación:</a:t>
            </a:r>
            <a:r>
              <a:rPr lang="en-US" sz="2300">
                <a:solidFill>
                  <a:schemeClr val="dk1"/>
                </a:solidFill>
              </a:rPr>
              <a:t> Estudiante de 9no Semestre de Ingeniería en Sistemas.</a:t>
            </a:r>
            <a:endParaRPr sz="23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AutoNum type="arabicPeriod"/>
            </a:pPr>
            <a:r>
              <a:rPr b="1" lang="en-US" sz="2300">
                <a:solidFill>
                  <a:schemeClr val="dk1"/>
                </a:solidFill>
              </a:rPr>
              <a:t>Perfil Profesional:</a:t>
            </a:r>
            <a:r>
              <a:rPr lang="en-US" sz="2300">
                <a:solidFill>
                  <a:schemeClr val="dk1"/>
                </a:solidFill>
              </a:rPr>
              <a:t> Desarrollador Backend con enfoque en lógica de procesos y arquitectura de datos.</a:t>
            </a:r>
            <a:endParaRPr sz="23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AutoNum type="arabicPeriod"/>
            </a:pPr>
            <a:r>
              <a:rPr b="1" lang="en-US" sz="2300">
                <a:solidFill>
                  <a:schemeClr val="dk1"/>
                </a:solidFill>
              </a:rPr>
              <a:t>Rol en el curso:</a:t>
            </a:r>
            <a:r>
              <a:rPr lang="en-US" sz="2300">
                <a:solidFill>
                  <a:schemeClr val="dk1"/>
                </a:solidFill>
              </a:rPr>
              <a:t> Facilitador técnico, guía en el uso de herramientas de modelado y apoyo en la resolución de dudas a través de Classroom/Foros.</a:t>
            </a:r>
            <a:endParaRPr sz="23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AutoNum type="arabicPeriod"/>
            </a:pPr>
            <a:r>
              <a:rPr b="1" lang="en-US" sz="2300">
                <a:solidFill>
                  <a:schemeClr val="dk1"/>
                </a:solidFill>
              </a:rPr>
              <a:t>Contacto:</a:t>
            </a:r>
            <a:r>
              <a:rPr lang="en-US" sz="2300">
                <a:solidFill>
                  <a:schemeClr val="dk1"/>
                </a:solidFill>
              </a:rPr>
              <a:t> 3017033530101@ingenieria.usac.edu.gt</a:t>
            </a:r>
            <a:endParaRPr sz="23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/>
        </p:nvSpPr>
        <p:spPr>
          <a:xfrm>
            <a:off x="2042550" y="1118800"/>
            <a:ext cx="14202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2. Evaluación de Conocimientos Previos                             </a:t>
            </a:r>
            <a:endParaRPr b="1" i="0" sz="5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2421300" y="3074175"/>
            <a:ext cx="13173900" cy="58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Fundamento Teórico:</a:t>
            </a:r>
            <a:r>
              <a:rPr lang="en-US" sz="2800">
                <a:solidFill>
                  <a:schemeClr val="dk1"/>
                </a:solidFill>
              </a:rPr>
              <a:t> Basado en la Teoría General de Sistemas (TGS) de Ludwig von Bertalanffy.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Conceptos a evaluar:</a:t>
            </a:r>
            <a:endParaRPr b="1"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</a:rPr>
              <a:t>Definición de Sistema:</a:t>
            </a:r>
            <a:r>
              <a:rPr lang="en-US" sz="2800">
                <a:solidFill>
                  <a:schemeClr val="dk1"/>
                </a:solidFill>
              </a:rPr>
              <a:t> Conjunto de elementos interdependientes.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</a:rPr>
              <a:t>Entropía y Homeostasis:</a:t>
            </a:r>
            <a:r>
              <a:rPr lang="en-US" sz="2800">
                <a:solidFill>
                  <a:schemeClr val="dk1"/>
                </a:solidFill>
              </a:rPr>
              <a:t> El equilibrio vs. el desorden en un sistema.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b="1" lang="en-US" sz="2800">
                <a:solidFill>
                  <a:schemeClr val="dk1"/>
                </a:solidFill>
              </a:rPr>
              <a:t>Lógica de Procesos:</a:t>
            </a:r>
            <a:r>
              <a:rPr lang="en-US" sz="2800">
                <a:solidFill>
                  <a:schemeClr val="dk1"/>
                </a:solidFill>
              </a:rPr>
              <a:t> Identificación de entradas, procesos, salidas y retroalimentación.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chemeClr val="dk1"/>
                </a:solidFill>
              </a:rPr>
              <a:t>Dinámica Práctica:</a:t>
            </a:r>
            <a:r>
              <a:rPr lang="en-US" sz="2800">
                <a:solidFill>
                  <a:schemeClr val="dk1"/>
                </a:solidFill>
              </a:rPr>
              <a:t> Análisis rápido de un proceso cotidiano (ej. un cajero automático) mediante un diagrama de flujo simple para evaluar pensamiento lógico.</a:t>
            </a:r>
            <a:endParaRPr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75b4d7ed6_0_12"/>
          <p:cNvSpPr txBox="1"/>
          <p:nvPr/>
        </p:nvSpPr>
        <p:spPr>
          <a:xfrm>
            <a:off x="489650" y="596275"/>
            <a:ext cx="175884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3. Presentación de los Estudiantes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g3d75b4d7ed6_0_12"/>
          <p:cNvSpPr txBox="1"/>
          <p:nvPr/>
        </p:nvSpPr>
        <p:spPr>
          <a:xfrm>
            <a:off x="1407025" y="2522700"/>
            <a:ext cx="14249100" cy="59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Presentación de 5 estudiantes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b="1" lang="en-US" sz="2600">
                <a:solidFill>
                  <a:schemeClr val="dk1"/>
                </a:solidFill>
              </a:rPr>
              <a:t>Metodología:</a:t>
            </a:r>
            <a:r>
              <a:rPr lang="en-US" sz="2600">
                <a:solidFill>
                  <a:schemeClr val="dk1"/>
                </a:solidFill>
              </a:rPr>
              <a:t> Selección aleatoria de 5 estudiantes mediante "Spinner Wheel" o generador de azar.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b="1" lang="en-US" sz="2600">
                <a:solidFill>
                  <a:schemeClr val="dk1"/>
                </a:solidFill>
              </a:rPr>
              <a:t>Puntos a responder:</a:t>
            </a:r>
            <a:endParaRPr b="1" sz="2600">
              <a:solidFill>
                <a:schemeClr val="dk1"/>
              </a:solidFill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Nombre completo e interés principal en la carrera.</a:t>
            </a:r>
            <a:endParaRPr sz="2600">
              <a:solidFill>
                <a:schemeClr val="dk1"/>
              </a:solidFill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Expectativas sobre el curso de Teoría de Sistemas 1.</a:t>
            </a:r>
            <a:endParaRPr sz="2600">
              <a:solidFill>
                <a:schemeClr val="dk1"/>
              </a:solidFill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Experiencia previa con diagramación o análisis de procesos.</a:t>
            </a:r>
            <a:endParaRPr sz="2600">
              <a:solidFill>
                <a:schemeClr val="dk1"/>
              </a:solidFill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Dato curioso no académico.</a:t>
            </a:r>
            <a:endParaRPr sz="2600">
              <a:solidFill>
                <a:schemeClr val="dk1"/>
              </a:solidFill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○"/>
            </a:pPr>
            <a:r>
              <a:rPr lang="en-US" sz="2600">
                <a:solidFill>
                  <a:schemeClr val="dk1"/>
                </a:solidFill>
              </a:rPr>
              <a:t>Nivel de comodidad con la evaluación de conocimientos previos.</a:t>
            </a:r>
            <a:endParaRPr sz="26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39958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75b4d7ed6_0_21"/>
          <p:cNvSpPr txBox="1"/>
          <p:nvPr/>
        </p:nvSpPr>
        <p:spPr>
          <a:xfrm>
            <a:off x="489650" y="596275"/>
            <a:ext cx="160707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4.  Senso de Horarios de Calificación                         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g3d75b4d7ed6_0_21"/>
          <p:cNvSpPr txBox="1"/>
          <p:nvPr/>
        </p:nvSpPr>
        <p:spPr>
          <a:xfrm>
            <a:off x="1407030" y="2522700"/>
            <a:ext cx="14655600" cy="53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Horarios tentativos de calificación.</a:t>
            </a:r>
            <a:br>
              <a:rPr b="1" i="0" lang="en-US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b="1" i="0" lang="en-US" sz="2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-US" sz="2600">
                <a:solidFill>
                  <a:schemeClr val="dk1"/>
                </a:solidFill>
              </a:rPr>
              <a:t>Objetivo:</a:t>
            </a:r>
            <a:r>
              <a:rPr lang="en-US" sz="2600">
                <a:solidFill>
                  <a:schemeClr val="dk1"/>
                </a:solidFill>
              </a:rPr>
              <a:t> Establecer franjas horarias que garanticen la atención a la mayoría de los estudiantes para la revisión de sus entregas.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</a:rPr>
              <a:t>Propuesta de Horarios:</a:t>
            </a:r>
            <a:endParaRPr b="1" sz="26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Sábados: 10:00 AM – 12:00 PM.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lang="en-US" sz="2600">
                <a:solidFill>
                  <a:schemeClr val="dk1"/>
                </a:solidFill>
              </a:rPr>
              <a:t>Sábados: 2:00 PM – 4:00 PM.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</a:rPr>
              <a:t>Instrucciones:</a:t>
            </a:r>
            <a:r>
              <a:rPr lang="en-US" sz="2600">
                <a:solidFill>
                  <a:schemeClr val="dk1"/>
                </a:solidFill>
              </a:rPr>
              <a:t> Responder el formulario de Google Forms (enlace fijado en el chat) para validar la disponibilidad.</a:t>
            </a:r>
            <a:endParaRPr sz="26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75b4d7ed6_0_30"/>
          <p:cNvSpPr txBox="1"/>
          <p:nvPr/>
        </p:nvSpPr>
        <p:spPr>
          <a:xfrm>
            <a:off x="489650" y="596275"/>
            <a:ext cx="114669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5. Programa del Curso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" name="Google Shape;145;g3d75b4d7ed6_0_30"/>
          <p:cNvSpPr txBox="1"/>
          <p:nvPr/>
        </p:nvSpPr>
        <p:spPr>
          <a:xfrm>
            <a:off x="1407029" y="2522700"/>
            <a:ext cx="13923900" cy="50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Presentación del programa del curso</a:t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</a:rPr>
              <a:t>Unidades Principales:</a:t>
            </a:r>
            <a:endParaRPr b="1" sz="26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en-US" sz="2600">
                <a:solidFill>
                  <a:schemeClr val="dk1"/>
                </a:solidFill>
              </a:rPr>
              <a:t>Fundamentos del Pensamiento Sistémico.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en-US" sz="2600">
                <a:solidFill>
                  <a:schemeClr val="dk1"/>
                </a:solidFill>
              </a:rPr>
              <a:t>Modelado con Diagramas de Ciclos Causales (DCC).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en-US" sz="2600">
                <a:solidFill>
                  <a:schemeClr val="dk1"/>
                </a:solidFill>
              </a:rPr>
              <a:t>Dinámica de Sistemas y Arquetipos.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en-US" sz="2600">
                <a:solidFill>
                  <a:schemeClr val="dk1"/>
                </a:solidFill>
              </a:rPr>
              <a:t>Uso de software de simulación (VENSIM).</a:t>
            </a:r>
            <a:endParaRPr sz="2600">
              <a:solidFill>
                <a:schemeClr val="dk1"/>
              </a:solidFill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lang="en-US" sz="2600">
                <a:solidFill>
                  <a:schemeClr val="dk1"/>
                </a:solidFill>
              </a:rPr>
              <a:t>Análisis estratégico y Toma de Decisiones.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</a:rPr>
              <a:t>Hito Clave:</a:t>
            </a:r>
            <a:r>
              <a:rPr lang="en-US" sz="2600">
                <a:solidFill>
                  <a:schemeClr val="dk1"/>
                </a:solidFill>
              </a:rPr>
              <a:t> Primer Proyecto "De la Ceguera al Análisis" (Modelo del Iceberg y DSRP)</a:t>
            </a:r>
            <a:endParaRPr sz="26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4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75b4d7ed6_0_39"/>
          <p:cNvSpPr txBox="1"/>
          <p:nvPr/>
        </p:nvSpPr>
        <p:spPr>
          <a:xfrm>
            <a:off x="3410550" y="969200"/>
            <a:ext cx="11466900" cy="20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56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6. Evaluación de Conocimientos del Curso Actual                                  </a:t>
            </a:r>
            <a:endParaRPr b="1" i="0" sz="56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51" name="Google Shape;151;g3d75b4d7ed6_0_39"/>
          <p:cNvGrpSpPr/>
          <p:nvPr/>
        </p:nvGrpSpPr>
        <p:grpSpPr>
          <a:xfrm>
            <a:off x="3891294" y="4500975"/>
            <a:ext cx="13368064" cy="5000565"/>
            <a:chOff x="-7534162" y="-38108"/>
            <a:chExt cx="11548087" cy="4319770"/>
          </a:xfrm>
        </p:grpSpPr>
        <p:sp>
          <p:nvSpPr>
            <p:cNvPr id="152" name="Google Shape;152;g3d75b4d7ed6_0_39"/>
            <p:cNvSpPr/>
            <p:nvPr/>
          </p:nvSpPr>
          <p:spPr>
            <a:xfrm>
              <a:off x="0" y="0"/>
              <a:ext cx="4013925" cy="4281662"/>
            </a:xfrm>
            <a:custGeom>
              <a:rect b="b" l="l" r="r" t="t"/>
              <a:pathLst>
                <a:path extrusionOk="0" h="4281662" w="4013925">
                  <a:moveTo>
                    <a:pt x="0" y="4180062"/>
                  </a:moveTo>
                  <a:lnTo>
                    <a:pt x="4013925" y="4180062"/>
                  </a:lnTo>
                  <a:lnTo>
                    <a:pt x="3886925" y="4281662"/>
                  </a:lnTo>
                  <a:cubicBezTo>
                    <a:pt x="3886925" y="4281662"/>
                    <a:pt x="2896325" y="4205462"/>
                    <a:pt x="2794725" y="4205462"/>
                  </a:cubicBezTo>
                  <a:lnTo>
                    <a:pt x="1219200" y="4205462"/>
                  </a:lnTo>
                  <a:cubicBezTo>
                    <a:pt x="1117600" y="4205462"/>
                    <a:pt x="127000" y="4281662"/>
                    <a:pt x="127000" y="4281662"/>
                  </a:cubicBezTo>
                  <a:lnTo>
                    <a:pt x="0" y="4180062"/>
                  </a:lnTo>
                  <a:lnTo>
                    <a:pt x="0" y="0"/>
                  </a:lnTo>
                  <a:lnTo>
                    <a:pt x="4013925" y="0"/>
                  </a:lnTo>
                  <a:lnTo>
                    <a:pt x="4013925" y="4180062"/>
                  </a:lnTo>
                  <a:lnTo>
                    <a:pt x="12700" y="4180062"/>
                  </a:lnTo>
                  <a:lnTo>
                    <a:pt x="12700" y="4167362"/>
                  </a:lnTo>
                  <a:lnTo>
                    <a:pt x="4001225" y="4167362"/>
                  </a:lnTo>
                  <a:lnTo>
                    <a:pt x="4001225" y="12700"/>
                  </a:lnTo>
                  <a:lnTo>
                    <a:pt x="12700" y="12700"/>
                  </a:lnTo>
                  <a:lnTo>
                    <a:pt x="12700" y="4180062"/>
                  </a:lnTo>
                </a:path>
              </a:pathLst>
            </a:custGeom>
            <a:solidFill>
              <a:srgbClr val="394C60">
                <a:alpha val="784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g3d75b4d7ed6_0_39"/>
            <p:cNvSpPr txBox="1"/>
            <p:nvPr/>
          </p:nvSpPr>
          <p:spPr>
            <a:xfrm>
              <a:off x="-7534162" y="-38108"/>
              <a:ext cx="10848000" cy="376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13625" lIns="313625" spcFirstLastPara="1" rIns="313625" wrap="square" tIns="3136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2600">
                  <a:solidFill>
                    <a:schemeClr val="dk1"/>
                  </a:solidFill>
                </a:rPr>
                <a:t>Tópicos de Introducción:</a:t>
              </a:r>
              <a:endParaRPr b="1" sz="2600">
                <a:solidFill>
                  <a:schemeClr val="dk1"/>
                </a:solidFill>
              </a:endParaRPr>
            </a:p>
            <a:p>
              <a:pPr indent="-39370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Char char="●"/>
              </a:pPr>
              <a:r>
                <a:rPr b="1" lang="en-US" sz="2600">
                  <a:solidFill>
                    <a:schemeClr val="dk1"/>
                  </a:solidFill>
                </a:rPr>
                <a:t>Escalera de Inferencias:</a:t>
              </a:r>
              <a:r>
                <a:rPr lang="en-US" sz="2600">
                  <a:solidFill>
                    <a:schemeClr val="dk1"/>
                  </a:solidFill>
                </a:rPr>
                <a:t> ¿Cómo transformamos datos en acciones basadas en creencias?</a:t>
              </a:r>
              <a:endParaRPr sz="2600">
                <a:solidFill>
                  <a:schemeClr val="dk1"/>
                </a:solidFill>
              </a:endParaRPr>
            </a:p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Char char="●"/>
              </a:pPr>
              <a:r>
                <a:rPr b="1" lang="en-US" sz="2600">
                  <a:solidFill>
                    <a:schemeClr val="dk1"/>
                  </a:solidFill>
                </a:rPr>
                <a:t>Modelo del Iceberg:</a:t>
              </a:r>
              <a:r>
                <a:rPr lang="en-US" sz="2600">
                  <a:solidFill>
                    <a:schemeClr val="dk1"/>
                  </a:solidFill>
                </a:rPr>
                <a:t> Identificación de estructuras invisibles bajo los eventos.</a:t>
              </a:r>
              <a:endParaRPr sz="2600">
                <a:solidFill>
                  <a:schemeClr val="dk1"/>
                </a:solidFill>
              </a:endParaRPr>
            </a:p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Char char="●"/>
              </a:pPr>
              <a:r>
                <a:rPr b="1" lang="en-US" sz="2600">
                  <a:solidFill>
                    <a:schemeClr val="dk1"/>
                  </a:solidFill>
                </a:rPr>
                <a:t>Mapas DSRP:</a:t>
              </a:r>
              <a:r>
                <a:rPr lang="en-US" sz="2600">
                  <a:solidFill>
                    <a:schemeClr val="dk1"/>
                  </a:solidFill>
                </a:rPr>
                <a:t> Distinciones, Sistemas, Relaciones y Perspectivas (Derek Cabrera).</a:t>
              </a:r>
              <a:endParaRPr sz="2600">
                <a:solidFill>
                  <a:schemeClr val="dk1"/>
                </a:solidFill>
              </a:endParaRPr>
            </a:p>
            <a:p>
              <a:pPr indent="-3937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Char char="●"/>
              </a:pPr>
              <a:r>
                <a:rPr b="1" lang="en-US" sz="2600">
                  <a:solidFill>
                    <a:schemeClr val="dk1"/>
                  </a:solidFill>
                </a:rPr>
                <a:t>Retroalimentación:</a:t>
              </a:r>
              <a:r>
                <a:rPr lang="en-US" sz="2600">
                  <a:solidFill>
                    <a:schemeClr val="dk1"/>
                  </a:solidFill>
                </a:rPr>
                <a:t> Diferencia entre Bucles de Refuerzo (R) y Compensación (C).</a:t>
              </a:r>
              <a:endParaRPr sz="2600">
                <a:solidFill>
                  <a:schemeClr val="dk1"/>
                </a:solidFill>
              </a:endParaRPr>
            </a:p>
            <a:p>
              <a:pPr indent="0" lvl="0" marL="0" marR="0" rtl="0" algn="l">
                <a:lnSpc>
                  <a:spcPct val="140046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2160"/>
                <a:buFont typeface="Arial"/>
                <a:buNone/>
              </a:pPr>
              <a:r>
                <a:t/>
              </a:r>
              <a:endParaRPr sz="2600"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75b4d7ed6_1_10"/>
          <p:cNvSpPr txBox="1"/>
          <p:nvPr/>
        </p:nvSpPr>
        <p:spPr>
          <a:xfrm>
            <a:off x="489650" y="596275"/>
            <a:ext cx="182880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rPr b="1" i="0" lang="en-US" sz="56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7. Tarea de fortalecimiento académico </a:t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Arial"/>
              <a:buNone/>
            </a:pPr>
            <a:r>
              <a:t/>
            </a:r>
            <a:endParaRPr b="1" i="0" sz="5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g3d75b4d7ed6_1_10"/>
          <p:cNvSpPr txBox="1"/>
          <p:nvPr/>
        </p:nvSpPr>
        <p:spPr>
          <a:xfrm>
            <a:off x="1407030" y="2522700"/>
            <a:ext cx="15306300" cy="3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</a:rPr>
              <a:t>Actividad:</a:t>
            </a:r>
            <a:r>
              <a:rPr lang="en-US" sz="2600">
                <a:solidFill>
                  <a:schemeClr val="dk1"/>
                </a:solidFill>
              </a:rPr>
              <a:t> Investigación individual sobre un "Arquetipo Sistémico" (ej. Límites al crecimiento o Desplazamiento de carga).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</a:rPr>
              <a:t>Objetivo:</a:t>
            </a:r>
            <a:r>
              <a:rPr lang="en-US" sz="2600">
                <a:solidFill>
                  <a:schemeClr val="dk1"/>
                </a:solidFill>
              </a:rPr>
              <a:t> Nivelar el conocimiento técnico antes de la primera práctica obligatoria.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</a:rPr>
              <a:t>Formato de entrega:</a:t>
            </a:r>
            <a:r>
              <a:rPr lang="en-US" sz="2600">
                <a:solidFill>
                  <a:schemeClr val="dk1"/>
                </a:solidFill>
              </a:rPr>
              <a:t> Documento breve (1 página) con un ejemplo aplicado a la ingeniería de software en Guatemala.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</a:rPr>
              <a:t>Fecha de entrega:</a:t>
            </a:r>
            <a:r>
              <a:rPr lang="en-US" sz="2600">
                <a:solidFill>
                  <a:schemeClr val="dk1"/>
                </a:solidFill>
              </a:rPr>
              <a:t> Próxima sesión de laboratorio.</a:t>
            </a:r>
            <a:endParaRPr b="1" i="0" sz="26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"/>
          <p:cNvSpPr/>
          <p:nvPr/>
        </p:nvSpPr>
        <p:spPr>
          <a:xfrm>
            <a:off x="3861682" y="5952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/>
          <p:nvPr/>
        </p:nvSpPr>
        <p:spPr>
          <a:xfrm>
            <a:off x="915620" y="11805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